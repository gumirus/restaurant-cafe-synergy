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92" r:id="rId3"/>
    <p:sldId id="258" r:id="rId4"/>
    <p:sldId id="259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</p:sldIdLst>
  <p:sldSz cx="10693400" cy="7561263"/>
  <p:notesSz cx="6669088" cy="9928225"/>
  <p:embeddedFontLst>
    <p:embeddedFont>
      <p:font typeface="Arial Black" panose="020B0A04020102020204" pitchFamily="34" charset="0"/>
      <p:regular r:id="rId32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9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hyDS90UvgFoLYJSphwnAyjeLiB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464" y="72"/>
      </p:cViewPr>
      <p:guideLst>
        <p:guide orient="horz" pos="2296"/>
        <p:guide pos="2880"/>
        <p:guide orient="horz" pos="2531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customschemas.google.com/relationships/presentationmetadata" Target="meta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9938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7607" y="0"/>
            <a:ext cx="2889938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889938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722540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727162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148062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433163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2976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633308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200350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683137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607904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859333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487116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921441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96105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6171006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3545111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41286840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122399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9812452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3204944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6255984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1357262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bf727242c8_0_0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00" cy="390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bf727242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2424499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bf727242c8_0_7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00" cy="390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2bf727242c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8980913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f727242c8_0_14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00" cy="390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2bf727242c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42228431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2801119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c00a3e1a9a_0_23:notes"/>
          <p:cNvSpPr txBox="1">
            <a:spLocks noGrp="1"/>
          </p:cNvSpPr>
          <p:nvPr>
            <p:ph type="body" idx="1"/>
          </p:nvPr>
        </p:nvSpPr>
        <p:spPr>
          <a:xfrm>
            <a:off x="666909" y="4777958"/>
            <a:ext cx="5335200" cy="39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g2c00a3e1a9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9521164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/>
          <p:nvPr/>
        </p:nvSpPr>
        <p:spPr>
          <a:xfrm>
            <a:off x="0" y="1404367"/>
            <a:ext cx="10693400" cy="4968551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6"/>
          <p:cNvSpPr/>
          <p:nvPr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64950" y="6588943"/>
            <a:ext cx="1628450" cy="9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6"/>
          <p:cNvSpPr txBox="1">
            <a:spLocks noGrp="1"/>
          </p:cNvSpPr>
          <p:nvPr>
            <p:ph type="ctrTitle"/>
          </p:nvPr>
        </p:nvSpPr>
        <p:spPr>
          <a:xfrm>
            <a:off x="491784" y="3348583"/>
            <a:ext cx="9679452" cy="191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 Black"/>
              <a:buNone/>
              <a:defRPr sz="55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body" idx="1"/>
          </p:nvPr>
        </p:nvSpPr>
        <p:spPr>
          <a:xfrm>
            <a:off x="474666" y="5386216"/>
            <a:ext cx="9768578" cy="45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/>
          <p:nvPr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" name="Google Shape;25;p17"/>
          <p:cNvSpPr/>
          <p:nvPr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 extrusionOk="0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64950" y="6588943"/>
            <a:ext cx="1628450" cy="9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7"/>
          <p:cNvSpPr txBox="1">
            <a:spLocks noGrp="1"/>
          </p:cNvSpPr>
          <p:nvPr>
            <p:ph type="title"/>
          </p:nvPr>
        </p:nvSpPr>
        <p:spPr>
          <a:xfrm>
            <a:off x="532673" y="561291"/>
            <a:ext cx="9687193" cy="56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4100"/>
              <a:buFont typeface="Arial Black"/>
              <a:buNone/>
              <a:defRPr sz="4100" b="1">
                <a:solidFill>
                  <a:srgbClr val="E6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1"/>
          </p:nvPr>
        </p:nvSpPr>
        <p:spPr>
          <a:xfrm>
            <a:off x="394963" y="2919243"/>
            <a:ext cx="9824904" cy="34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2"/>
          </p:nvPr>
        </p:nvSpPr>
        <p:spPr>
          <a:xfrm>
            <a:off x="394963" y="2124447"/>
            <a:ext cx="9824904" cy="42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раздела">
  <p:cSld name="1_Заголовок раздела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8" descr="D:\_DEN\_ПРОЕКТЫ\_МФПА\Университет СИНЕРГИЯ\презентации\Рисунок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0725898" cy="756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8"/>
          <p:cNvSpPr txBox="1">
            <a:spLocks noGrp="1"/>
          </p:cNvSpPr>
          <p:nvPr>
            <p:ph type="ctrTitle"/>
          </p:nvPr>
        </p:nvSpPr>
        <p:spPr>
          <a:xfrm>
            <a:off x="546766" y="2196455"/>
            <a:ext cx="9599868" cy="38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 Black"/>
              <a:buNone/>
              <a:defRPr sz="50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Пустой слайд">
  <p:cSld name="5_Пустой слайд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" name="Google Shape;36;p19"/>
          <p:cNvSpPr/>
          <p:nvPr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 extrusionOk="0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64950" y="6588943"/>
            <a:ext cx="1628450" cy="9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532673" y="561291"/>
            <a:ext cx="9687193" cy="56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4100"/>
              <a:buFont typeface="Arial Black"/>
              <a:buNone/>
              <a:defRPr sz="4100" b="1">
                <a:solidFill>
                  <a:srgbClr val="E6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394963" y="2700511"/>
            <a:ext cx="9824904" cy="37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2"/>
          </p:nvPr>
        </p:nvSpPr>
        <p:spPr>
          <a:xfrm>
            <a:off x="394963" y="2124447"/>
            <a:ext cx="9824904" cy="42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Пустой слайд">
  <p:cSld name="2_Пустой слайд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sldNum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" name="Google Shape;43;p20"/>
          <p:cNvSpPr/>
          <p:nvPr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 extrusionOk="0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64950" y="6588943"/>
            <a:ext cx="1628450" cy="9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0"/>
          <p:cNvSpPr txBox="1">
            <a:spLocks noGrp="1"/>
          </p:cNvSpPr>
          <p:nvPr>
            <p:ph type="title"/>
          </p:nvPr>
        </p:nvSpPr>
        <p:spPr>
          <a:xfrm>
            <a:off x="532673" y="561291"/>
            <a:ext cx="9687193" cy="56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4100"/>
              <a:buFont typeface="Arial Black"/>
              <a:buNone/>
              <a:defRPr sz="4100" b="1">
                <a:solidFill>
                  <a:srgbClr val="E6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94962" y="2141571"/>
            <a:ext cx="9824905" cy="4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Пустой слайд">
  <p:cSld name="4_Пустой слайд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9" name="Google Shape;49;p21"/>
          <p:cNvSpPr/>
          <p:nvPr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 extrusionOk="0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64950" y="6588943"/>
            <a:ext cx="1628450" cy="9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1"/>
          <p:cNvSpPr txBox="1">
            <a:spLocks noGrp="1"/>
          </p:cNvSpPr>
          <p:nvPr>
            <p:ph type="body" idx="1"/>
          </p:nvPr>
        </p:nvSpPr>
        <p:spPr>
          <a:xfrm>
            <a:off x="324212" y="3559861"/>
            <a:ext cx="3154337" cy="3006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body" idx="2"/>
          </p:nvPr>
        </p:nvSpPr>
        <p:spPr>
          <a:xfrm>
            <a:off x="324212" y="2141571"/>
            <a:ext cx="3154337" cy="1276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body" idx="3"/>
          </p:nvPr>
        </p:nvSpPr>
        <p:spPr>
          <a:xfrm>
            <a:off x="3741209" y="3559861"/>
            <a:ext cx="3154337" cy="3006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4"/>
          </p:nvPr>
        </p:nvSpPr>
        <p:spPr>
          <a:xfrm>
            <a:off x="3741209" y="2141571"/>
            <a:ext cx="3154337" cy="1276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5"/>
          </p:nvPr>
        </p:nvSpPr>
        <p:spPr>
          <a:xfrm>
            <a:off x="7158207" y="3559861"/>
            <a:ext cx="3154337" cy="3006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6"/>
          </p:nvPr>
        </p:nvSpPr>
        <p:spPr>
          <a:xfrm>
            <a:off x="7158207" y="2141571"/>
            <a:ext cx="3154337" cy="1276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title"/>
          </p:nvPr>
        </p:nvSpPr>
        <p:spPr>
          <a:xfrm>
            <a:off x="532674" y="561291"/>
            <a:ext cx="9779870" cy="56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4100"/>
              <a:buFont typeface="Arial Black"/>
              <a:buNone/>
              <a:defRPr sz="4100" b="1">
                <a:solidFill>
                  <a:srgbClr val="E6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устой слайд">
  <p:cSld name="3_Пустой слайд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/>
          <p:nvPr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1" name="Google Shape;61;p22"/>
          <p:cNvSpPr/>
          <p:nvPr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 extrusionOk="0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64950" y="6588943"/>
            <a:ext cx="1628450" cy="9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2"/>
          <p:cNvSpPr/>
          <p:nvPr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 extrusionOk="0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2"/>
          <p:cNvSpPr txBox="1">
            <a:spLocks noGrp="1"/>
          </p:cNvSpPr>
          <p:nvPr>
            <p:ph type="title"/>
          </p:nvPr>
        </p:nvSpPr>
        <p:spPr>
          <a:xfrm>
            <a:off x="562355" y="1133896"/>
            <a:ext cx="9499375" cy="56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4100"/>
              <a:buFont typeface="Arial Black"/>
              <a:buNone/>
              <a:defRPr sz="4100" b="1">
                <a:solidFill>
                  <a:srgbClr val="E6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body" idx="1"/>
          </p:nvPr>
        </p:nvSpPr>
        <p:spPr>
          <a:xfrm>
            <a:off x="562355" y="489910"/>
            <a:ext cx="94993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355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rgbClr val="E60000"/>
              </a:buClr>
              <a:buSzPts val="2000"/>
              <a:buChar char="•"/>
              <a:defRPr sz="2000" b="1">
                <a:solidFill>
                  <a:srgbClr val="E6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body" idx="2"/>
          </p:nvPr>
        </p:nvSpPr>
        <p:spPr>
          <a:xfrm>
            <a:off x="645691" y="5058739"/>
            <a:ext cx="2304000" cy="150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body" idx="3"/>
          </p:nvPr>
        </p:nvSpPr>
        <p:spPr>
          <a:xfrm>
            <a:off x="3017334" y="5058739"/>
            <a:ext cx="2304000" cy="150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4"/>
          </p:nvPr>
        </p:nvSpPr>
        <p:spPr>
          <a:xfrm>
            <a:off x="5388977" y="5058739"/>
            <a:ext cx="2304000" cy="150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/>
          <p:nvPr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5"/>
          </p:nvPr>
        </p:nvSpPr>
        <p:spPr>
          <a:xfrm>
            <a:off x="7757731" y="2484487"/>
            <a:ext cx="2304000" cy="29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 sz="1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body" idx="6"/>
          </p:nvPr>
        </p:nvSpPr>
        <p:spPr>
          <a:xfrm>
            <a:off x="7759260" y="2945191"/>
            <a:ext cx="2311011" cy="346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body" idx="7"/>
          </p:nvPr>
        </p:nvSpPr>
        <p:spPr>
          <a:xfrm>
            <a:off x="665571" y="2470407"/>
            <a:ext cx="2304000" cy="237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8"/>
          </p:nvPr>
        </p:nvSpPr>
        <p:spPr>
          <a:xfrm>
            <a:off x="3037214" y="2470407"/>
            <a:ext cx="2304000" cy="237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9"/>
          </p:nvPr>
        </p:nvSpPr>
        <p:spPr>
          <a:xfrm>
            <a:off x="5408857" y="2470407"/>
            <a:ext cx="2304000" cy="237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Calibri"/>
              <a:buNone/>
              <a:defRPr sz="5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algn="ctr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lvl="3" algn="ctr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algn="ctr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lvl="5" algn="ctr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algn="ctr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algn="ctr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lvl="8" algn="ctr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87" name="Google Shape;8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Calibri"/>
              <a:buNone/>
              <a:defRPr sz="5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5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body" idx="1"/>
          </p:nvPr>
        </p:nvSpPr>
        <p:spPr>
          <a:xfrm>
            <a:off x="735171" y="2012836"/>
            <a:ext cx="4544695" cy="479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body" idx="2"/>
          </p:nvPr>
        </p:nvSpPr>
        <p:spPr>
          <a:xfrm>
            <a:off x="5413534" y="2012836"/>
            <a:ext cx="4544695" cy="479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body" idx="2"/>
          </p:nvPr>
        </p:nvSpPr>
        <p:spPr>
          <a:xfrm>
            <a:off x="736565" y="2761961"/>
            <a:ext cx="4523809" cy="406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body" idx="3"/>
          </p:nvPr>
        </p:nvSpPr>
        <p:spPr>
          <a:xfrm>
            <a:off x="5413534" y="1853560"/>
            <a:ext cx="4546088" cy="908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106" name="Google Shape;106;p27"/>
          <p:cNvSpPr txBox="1">
            <a:spLocks noGrp="1"/>
          </p:cNvSpPr>
          <p:nvPr>
            <p:ph type="body" idx="4"/>
          </p:nvPr>
        </p:nvSpPr>
        <p:spPr>
          <a:xfrm>
            <a:off x="5413534" y="2761961"/>
            <a:ext cx="4546088" cy="406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body" idx="1"/>
          </p:nvPr>
        </p:nvSpPr>
        <p:spPr>
          <a:xfrm>
            <a:off x="4546088" y="1088683"/>
            <a:ext cx="5413534" cy="537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marL="914400" lvl="1" indent="-3810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6195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marL="1828800" lvl="3" indent="-33655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4pPr>
            <a:lvl5pPr marL="2286000" lvl="4" indent="-33655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5pPr>
            <a:lvl6pPr marL="2743200" lvl="5" indent="-33655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marL="3200400" lvl="6" indent="-33655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marL="3657600" lvl="7" indent="-33655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marL="4114800" lvl="8" indent="-33655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body" idx="2"/>
          </p:nvPr>
        </p:nvSpPr>
        <p:spPr>
          <a:xfrm>
            <a:off x="736564" y="2268379"/>
            <a:ext cx="3448900" cy="4202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9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>
            <a:spLocks noGrp="1"/>
          </p:cNvSpPr>
          <p:nvPr>
            <p:ph type="pic" idx="2"/>
          </p:nvPr>
        </p:nvSpPr>
        <p:spPr>
          <a:xfrm>
            <a:off x="4546088" y="1088683"/>
            <a:ext cx="5413534" cy="5373398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25" name="Google Shape;125;p30"/>
          <p:cNvSpPr txBox="1">
            <a:spLocks noGrp="1"/>
          </p:cNvSpPr>
          <p:nvPr>
            <p:ph type="body" idx="1"/>
          </p:nvPr>
        </p:nvSpPr>
        <p:spPr>
          <a:xfrm>
            <a:off x="736564" y="2268379"/>
            <a:ext cx="3448900" cy="4202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body" idx="1"/>
          </p:nvPr>
        </p:nvSpPr>
        <p:spPr>
          <a:xfrm rot="5400000">
            <a:off x="2947924" y="-199917"/>
            <a:ext cx="4797552" cy="922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1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 rot="5400000">
            <a:off x="5601437" y="2453595"/>
            <a:ext cx="6407821" cy="230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body" idx="1"/>
          </p:nvPr>
        </p:nvSpPr>
        <p:spPr>
          <a:xfrm rot="5400000">
            <a:off x="923075" y="214664"/>
            <a:ext cx="6407821" cy="678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2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2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2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  <a:def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55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urait.ru/bcode/514585" TargetMode="External"/><Relationship Id="rId4" Type="http://schemas.openxmlformats.org/officeDocument/2006/relationships/hyperlink" Target="https://urait.ru/bcode/518499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"/>
          <p:cNvSpPr txBox="1">
            <a:spLocks noGrp="1"/>
          </p:cNvSpPr>
          <p:nvPr>
            <p:ph type="ctrTitle"/>
          </p:nvPr>
        </p:nvSpPr>
        <p:spPr>
          <a:xfrm>
            <a:off x="503945" y="3038165"/>
            <a:ext cx="9679452" cy="312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 Black"/>
              <a:buNone/>
            </a:pPr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учебной практики </a:t>
            </a:r>
            <a:br>
              <a:rPr lang="ru-RU" sz="2100" dirty="0"/>
            </a:br>
            <a:r>
              <a:rPr lang="ru-RU" sz="2100" dirty="0"/>
              <a:t/>
            </a:r>
            <a:br>
              <a:rPr lang="ru-RU" sz="2100" dirty="0"/>
            </a:br>
            <a:r>
              <a:rPr lang="ru-RU" sz="2000" dirty="0"/>
              <a:t>по профессиональному модулю ПМ.09 Проектирование, разработка и оптимизация веб-приложений</a:t>
            </a:r>
            <a:br>
              <a:rPr lang="ru-RU" sz="2000" dirty="0"/>
            </a:b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в период с «__» __________ 20__ г. по «__» __________ 20__ г.</a:t>
            </a:r>
            <a:br>
              <a:rPr lang="ru-RU" sz="2000" dirty="0"/>
            </a:b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 Специальность 09.02.07 Информационные системы и программирование</a:t>
            </a:r>
            <a:r>
              <a:rPr lang="ru-RU" sz="2100" dirty="0"/>
              <a:t/>
            </a:r>
            <a:br>
              <a:rPr lang="ru-RU" sz="2100" dirty="0"/>
            </a:br>
            <a:endParaRPr sz="2700" dirty="0"/>
          </a:p>
        </p:txBody>
      </p:sp>
      <p:sp>
        <p:nvSpPr>
          <p:cNvPr id="146" name="Google Shape;146;p1"/>
          <p:cNvSpPr txBox="1"/>
          <p:nvPr/>
        </p:nvSpPr>
        <p:spPr>
          <a:xfrm>
            <a:off x="810196" y="6279378"/>
            <a:ext cx="8712968" cy="1402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ФИО обучающегося: ____________________________________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Группа: _______________________________________________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ФИО Руководителя:  ____________________________________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</a:pPr>
            <a:endParaRPr sz="2200" b="0" i="1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16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16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endParaRPr sz="800" b="0" i="1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666180" y="1620391"/>
            <a:ext cx="91440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АВТОНОМНАЯ НЕКОММЕРЧЕСКАЯ ОРГАНИЗАЦИЯ ВЫСШЕГО ОБРАЗОВАНИЯ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</a:t>
            </a:r>
            <a:r>
              <a:rPr lang="ru-RU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МОСКОВСКИЙ </a:t>
            </a:r>
            <a:r>
              <a:rPr lang="ru-RU" sz="1400" b="1" i="0" u="none" strike="noStrike" cap="none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УНИВЕРСИТЕТ </a:t>
            </a:r>
            <a:r>
              <a:rPr lang="ru-RU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«СИНЕРГИЯ»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Факультет Информационных технологий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Кафедра Цифровой экономики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>
            <a:spLocks noGrp="1"/>
          </p:cNvSpPr>
          <p:nvPr>
            <p:ph type="title"/>
          </p:nvPr>
        </p:nvSpPr>
        <p:spPr>
          <a:xfrm>
            <a:off x="532673" y="637466"/>
            <a:ext cx="968719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4100"/>
              <a:buFont typeface="Arial Black"/>
              <a:buNone/>
            </a:pPr>
            <a: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  <a:t>Содержание</a:t>
            </a:r>
            <a:endParaRPr sz="3000" kern="1200" dirty="0">
              <a:latin typeface="Arial Black" panose="020B0A04020102020204" pitchFamily="34" charset="0"/>
              <a:ea typeface="+mj-ea"/>
              <a:cs typeface="+mj-cs"/>
              <a:sym typeface="Times New Roman"/>
            </a:endParaRPr>
          </a:p>
        </p:txBody>
      </p:sp>
      <p:sp>
        <p:nvSpPr>
          <p:cNvPr id="5" name="Google Shape;153;p2"/>
          <p:cNvSpPr txBox="1"/>
          <p:nvPr/>
        </p:nvSpPr>
        <p:spPr>
          <a:xfrm>
            <a:off x="412750" y="1821457"/>
            <a:ext cx="9687300" cy="4498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1. </a:t>
            </a:r>
            <a:r>
              <a:rPr lang="ru-RU" sz="2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  <a:endParaRPr lang="ru-RU"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just">
              <a:spcBef>
                <a:spcPts val="800"/>
              </a:spcBef>
              <a:buSzPts val="2500"/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 </a:t>
            </a:r>
            <a:r>
              <a:rPr lang="ru-RU" sz="2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Сбор информации об объекте практики и анализ предметной области </a:t>
            </a:r>
          </a:p>
          <a:p>
            <a:pPr algn="just">
              <a:spcBef>
                <a:spcPts val="800"/>
              </a:spcBef>
              <a:buSzPts val="2500"/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3. </a:t>
            </a:r>
            <a:r>
              <a:rPr lang="ru-RU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Разработка проектной документации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>
              <a:spcBef>
                <a:spcPts val="800"/>
              </a:spcBef>
              <a:buSzPts val="2500"/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4. </a:t>
            </a:r>
            <a:r>
              <a:rPr lang="ru-RU" sz="21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Экспериментально-практическая работа. Приобретение необходимых знаний, умений и </a:t>
            </a:r>
            <a:r>
              <a:rPr lang="ru-RU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первоначального практического опыта работы по специальности в рамках освоения вида деятельности </a:t>
            </a:r>
            <a:r>
              <a:rPr lang="ru-RU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ВД 9. Проектирование, разработка и оптимизация веб-приложений</a:t>
            </a:r>
          </a:p>
          <a:p>
            <a:pPr lvl="0" algn="just">
              <a:spcBef>
                <a:spcPts val="800"/>
              </a:spcBef>
              <a:buSzPts val="2500"/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5. </a:t>
            </a:r>
            <a:r>
              <a:rPr lang="ru-RU" sz="21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Обработка и систематизация полученного фактического материала</a:t>
            </a:r>
            <a:endParaRPr sz="2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3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335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>
            <a:spLocks noGrp="1"/>
          </p:cNvSpPr>
          <p:nvPr>
            <p:ph type="title"/>
          </p:nvPr>
        </p:nvSpPr>
        <p:spPr>
          <a:xfrm>
            <a:off x="424024" y="300959"/>
            <a:ext cx="9687193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3600"/>
              <a:buFont typeface="Arial Black"/>
              <a:buNone/>
            </a:pPr>
            <a:r>
              <a:rPr lang="ru-RU" sz="3600">
                <a:latin typeface="Times New Roman"/>
                <a:ea typeface="Times New Roman"/>
                <a:cs typeface="Times New Roman"/>
                <a:sym typeface="Times New Roman"/>
              </a:rPr>
              <a:t>Организационный этап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3"/>
          <p:cNvSpPr txBox="1">
            <a:spLocks noGrp="1"/>
          </p:cNvSpPr>
          <p:nvPr>
            <p:ph type="body" idx="1"/>
          </p:nvPr>
        </p:nvSpPr>
        <p:spPr>
          <a:xfrm>
            <a:off x="286313" y="1788502"/>
            <a:ext cx="9824904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/>
          <a:p>
            <a:pPr marL="45720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ru-RU" sz="1600" dirty="0">
                <a:latin typeface="Times New Roman"/>
                <a:cs typeface="Times New Roman"/>
                <a:sym typeface="Times New Roman"/>
              </a:rPr>
              <a:t>Я, Ф.И.О., проходил(а) учебную практику в … </a:t>
            </a:r>
            <a:r>
              <a:rPr lang="ru-RU" sz="1600" i="1" dirty="0">
                <a:latin typeface="Times New Roman"/>
                <a:cs typeface="Times New Roman"/>
                <a:sym typeface="Times New Roman"/>
              </a:rPr>
              <a:t>(например, </a:t>
            </a:r>
            <a:r>
              <a:rPr lang="ru-RU" sz="1600" i="1" dirty="0">
                <a:latin typeface="Times New Roman"/>
                <a:cs typeface="Times New Roman"/>
              </a:rPr>
              <a:t>на базе Управления веб-разработки IT-Департамента Университета «Синергия»)</a:t>
            </a:r>
            <a:r>
              <a:rPr lang="ru-RU" sz="1600" dirty="0">
                <a:latin typeface="Times New Roman"/>
                <a:cs typeface="Times New Roman"/>
                <a:sym typeface="Times New Roman"/>
              </a:rPr>
              <a:t>. </a:t>
            </a: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При выполнении индивидуального задания по практике решал(а) задачи по разработке  …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Перед началом практики: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•	Принял(а) участие в организационном собрании по практике.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•	Ознакомил(а)</a:t>
            </a:r>
            <a:r>
              <a:rPr lang="ru-RU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сь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 с комплектом шаблонов отчетной документации по практике.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•	Уточнил(а) контакты руководителя практики от Образовательной организации, а также правила в отношении субординации, внешнего вида, графика работы, техники безопасности: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Требования к внешнему виду: …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График работы: …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Круг обязанностей: …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Доступ к данным: …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3"/>
          <p:cNvSpPr txBox="1">
            <a:spLocks noGrp="1"/>
          </p:cNvSpPr>
          <p:nvPr>
            <p:ph type="body" idx="2"/>
          </p:nvPr>
        </p:nvSpPr>
        <p:spPr>
          <a:xfrm>
            <a:off x="286313" y="779740"/>
            <a:ext cx="9824904" cy="709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 lnSpcReduction="10000"/>
          </a:bodyPr>
          <a:lstStyle/>
          <a:p>
            <a:pPr marL="873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1800"/>
              <a:buNone/>
            </a:pPr>
            <a:r>
              <a:rPr lang="ru-RU" b="0">
                <a:solidFill>
                  <a:srgbClr val="E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Правила внутреннего распорядка, правила и нормы охраны труда, 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7313" lvl="0" indent="0" algn="l" rtl="0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rgbClr val="E60000"/>
              </a:buClr>
              <a:buSzPts val="1800"/>
              <a:buNone/>
            </a:pPr>
            <a:r>
              <a:rPr lang="ru-RU" b="0">
                <a:solidFill>
                  <a:srgbClr val="E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техники безопасности при работе с вычислительной техникой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7362924" y="220918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362924" y="220918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6DD52E-6E8F-401F-A992-146510A48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61" y="2072148"/>
            <a:ext cx="4953727" cy="4273803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0C123B-C0D6-4B51-BFD8-A1DEFEDF8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570" y="2084522"/>
            <a:ext cx="4475691" cy="42614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412752" y="265888"/>
            <a:ext cx="6326721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Анализ предметной области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66961" y="459418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3600"/>
              <a:buFont typeface="Arial Black"/>
              <a:buNone/>
            </a:pPr>
            <a: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  <a:t>Подготовительный этап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362924" y="220918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412752" y="265888"/>
            <a:ext cx="6326721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Разработка проектной документации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66961" y="459418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3600"/>
              <a:buFont typeface="Arial Black"/>
              <a:buNone/>
            </a:pPr>
            <a: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  <a:t>Исследовательский этап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8C5E12-E450-4738-958C-39734F7410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5"/>
          <a:stretch/>
        </p:blipFill>
        <p:spPr>
          <a:xfrm>
            <a:off x="659033" y="2458387"/>
            <a:ext cx="8193909" cy="47489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3345086" y="1873668"/>
            <a:ext cx="3693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бизнес-процессов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330960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362924" y="220918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412752" y="265888"/>
            <a:ext cx="6326721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Разработка проектной документации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66961" y="459418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3600"/>
              <a:buFont typeface="Arial Black"/>
              <a:buNone/>
            </a:pPr>
            <a: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  <a:t>Исследовательский этап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4043277" y="1855084"/>
            <a:ext cx="2534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Доска настроения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19D9FF-B3E4-4B23-BAB4-C14EE9D75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732" y="2431090"/>
            <a:ext cx="4523758" cy="47609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26982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362924" y="220918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412752" y="265888"/>
            <a:ext cx="6326721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Разработка проектной документации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66961" y="459418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3600"/>
              <a:buFont typeface="Arial Black"/>
              <a:buNone/>
            </a:pPr>
            <a: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  <a:t>Исследовательский этап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3713493" y="1825104"/>
            <a:ext cx="3448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пользователя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AE1629-6498-4FA0-9558-1FD041CDA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771" y="2316749"/>
            <a:ext cx="6936481" cy="48305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7777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412752" y="265888"/>
            <a:ext cx="6326721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Разработка клиентской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66961" y="459418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2968052" y="1743052"/>
            <a:ext cx="5049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элементов интерфейса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D0CC3CB-3EF8-491F-83CE-AFA89812C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052" y="2323250"/>
            <a:ext cx="4977645" cy="49110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656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412752" y="265888"/>
            <a:ext cx="6326721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Разработка клиентской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66961" y="459418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2968052" y="1743052"/>
            <a:ext cx="505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интерфейса пользователя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E332991-C281-4AA7-A3FD-265ED60EE5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01" r="3189"/>
          <a:stretch/>
        </p:blipFill>
        <p:spPr>
          <a:xfrm>
            <a:off x="3540687" y="2278505"/>
            <a:ext cx="3984376" cy="506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412752" y="265888"/>
            <a:ext cx="6326721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Разработка клиентской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66961" y="459418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412752" y="1827657"/>
            <a:ext cx="9375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стилевого оформление сайта с помощью каскадной таблицы стилей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15B01DF-B85C-4B1E-81CC-2D8ECA6B8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053" y="2668998"/>
            <a:ext cx="4302178" cy="46611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22180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412752" y="265888"/>
            <a:ext cx="6326721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Разработка клиентской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66961" y="459418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658786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динамических элементов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EE87F1-45A2-47DF-9344-90F518C32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040" y="2334950"/>
            <a:ext cx="4763319" cy="48493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41588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Проектирование и разработка серверной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7" y="533557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658786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логической и физической структуры базы данных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29603F7-55B5-4517-8C89-2798B284D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913" y="2205426"/>
            <a:ext cx="4843668" cy="51510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8108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Проектирование и разработка серверной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7" y="533557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583834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Нормализация базы данных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93DADDE-4F5E-43AB-9A40-7F7E5C19C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789" y="2205426"/>
            <a:ext cx="6933804" cy="40958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41462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Проектирование и разработка серверной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7" y="533557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583834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реализация базы данных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13B6B7D-85DA-413E-B252-E3B7F4F65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789" y="2329819"/>
            <a:ext cx="7125914" cy="39862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04387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Проектирование и разработка серверной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7" y="533557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583834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поддержки базы данных в PHP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E06E87-A871-4AFB-AEE8-C38CF79CAD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17" t="2212" r="2368"/>
          <a:stretch/>
        </p:blipFill>
        <p:spPr>
          <a:xfrm>
            <a:off x="2293494" y="2368446"/>
            <a:ext cx="5902501" cy="488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03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Проектирование и разработка серверной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7" y="533557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583834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интерфейса приложения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6AE16BF-8BF7-4049-B0CC-B67391EAF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994" y="2334950"/>
            <a:ext cx="4779233" cy="48203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57454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Проектирование и разработка серверной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7" y="533557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583834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серверных сценариев с использованием технологии PHP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455D28-4DC1-4CE1-91F9-97357AD97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416" y="2318319"/>
            <a:ext cx="4794660" cy="46727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6007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Проектирование и разработка серверной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7" y="533557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583834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Осуществление обработки данных на форме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2722047-4368-4A3C-BBC0-1ED57E46B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305" y="2322857"/>
            <a:ext cx="5046156" cy="48282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83777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Проектирование и разработка серверной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7" y="533557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583834" y="1743761"/>
            <a:ext cx="9375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механизма проверки корректности данных, вводимых пользователем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766438-0013-4069-AFD9-AA4C2D4BF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647" y="2672510"/>
            <a:ext cx="5768105" cy="45134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23184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Проектирование и разработка серверной части веб-приложения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7" y="533557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583834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механизма публикации изображений и файлов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3D04EB9-B0B0-4028-8D3F-92A6010B3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593" y="2386508"/>
            <a:ext cx="4090306" cy="47906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5328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Тестирование и отладка 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6" y="499276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583834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Функциональное тестирование проекта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8529B61-F845-4EB0-B00D-6FFEE0CFDF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45" r="2256"/>
          <a:stretch/>
        </p:blipFill>
        <p:spPr>
          <a:xfrm>
            <a:off x="2880815" y="2326547"/>
            <a:ext cx="4781862" cy="48272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6647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Тестирование и отладка 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6" y="499276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583834" y="1743761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обеспечение обработки исключительных ситуаций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855345E-6398-4A4F-8CE0-5EF10D97A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837" y="2324190"/>
            <a:ext cx="5427970" cy="47943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93158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Тестирование и отладка 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6" y="499276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428096" y="1824043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Исправление проектных ошибок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433D65F-D4E8-4178-9B41-EB4ED423E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71" y="2420862"/>
            <a:ext cx="6991350" cy="46958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8187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7539800" y="56026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9;g202f423d887_0_0"/>
          <p:cNvSpPr txBox="1">
            <a:spLocks noGrp="1"/>
          </p:cNvSpPr>
          <p:nvPr>
            <p:ph type="body" idx="2"/>
          </p:nvPr>
        </p:nvSpPr>
        <p:spPr>
          <a:xfrm>
            <a:off x="347040" y="237576"/>
            <a:ext cx="7567767" cy="110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Autofit/>
          </a:bodyPr>
          <a:lstStyle/>
          <a:p>
            <a:pPr marL="0" lvl="0" indent="0">
              <a:buClr>
                <a:srgbClr val="E60000"/>
              </a:buClr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Тестирование и отладка 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Google Shape;167;p5"/>
          <p:cNvSpPr txBox="1">
            <a:spLocks noGrp="1"/>
          </p:cNvSpPr>
          <p:nvPr>
            <p:ph type="title"/>
          </p:nvPr>
        </p:nvSpPr>
        <p:spPr>
          <a:xfrm>
            <a:off x="428096" y="499276"/>
            <a:ext cx="9687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3600"/>
            </a:pPr>
            <a:r>
              <a:rPr lang="ru-RU" sz="3000" kern="1200" dirty="0">
                <a:latin typeface="Arial Black" panose="020B0A04020102020204" pitchFamily="34" charset="0"/>
                <a:sym typeface="Times New Roman"/>
              </a:rPr>
              <a:t>Этап проектирования и разработки</a:t>
            </a: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5F77-B32A-4680-AE8E-0D7C1B940CB2}"/>
              </a:ext>
            </a:extLst>
          </p:cNvPr>
          <p:cNvSpPr txBox="1"/>
          <p:nvPr/>
        </p:nvSpPr>
        <p:spPr>
          <a:xfrm>
            <a:off x="428096" y="1824043"/>
            <a:ext cx="937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Размещение веб-сайта на сервере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7A1E6D0-61E1-47E7-B988-B0010D24E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848" y="2435609"/>
            <a:ext cx="8482555" cy="40199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2659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f727242c8_0_0"/>
          <p:cNvSpPr txBox="1">
            <a:spLocks noGrp="1"/>
          </p:cNvSpPr>
          <p:nvPr>
            <p:ph type="title"/>
          </p:nvPr>
        </p:nvSpPr>
        <p:spPr>
          <a:xfrm>
            <a:off x="396581" y="323591"/>
            <a:ext cx="10160700" cy="148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3600"/>
              <a:buFont typeface="Arial Black"/>
              <a:buNone/>
            </a:pPr>
            <a: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  <a:t>Отчетный этап</a:t>
            </a:r>
            <a:b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</a:b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g2bf727242c8_0_0"/>
          <p:cNvSpPr txBox="1">
            <a:spLocks noGrp="1"/>
          </p:cNvSpPr>
          <p:nvPr>
            <p:ph type="body" idx="2"/>
          </p:nvPr>
        </p:nvSpPr>
        <p:spPr>
          <a:xfrm>
            <a:off x="242841" y="373262"/>
            <a:ext cx="9825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/>
          <a:p>
            <a:pPr marL="87312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endParaRPr sz="1300" dirty="0">
              <a:solidFill>
                <a:srgbClr val="E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7312" lvl="0" indent="0" algn="l" rtl="0">
              <a:lnSpc>
                <a:spcPct val="80000"/>
              </a:lnSpc>
              <a:spcBef>
                <a:spcPts val="856"/>
              </a:spcBef>
              <a:spcAft>
                <a:spcPts val="0"/>
              </a:spcAft>
              <a:buClr>
                <a:srgbClr val="E60000"/>
              </a:buClr>
              <a:buSzPts val="2500"/>
              <a:buFont typeface="Arial"/>
              <a:buNone/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imes New Roman"/>
              </a:rPr>
              <a:t>Формирование отчетной документации по результатам работ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  <a:p>
            <a:pPr marL="87312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endParaRPr sz="1300" b="0" dirty="0">
              <a:solidFill>
                <a:srgbClr val="E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g2bf727242c8_0_0"/>
          <p:cNvSpPr/>
          <p:nvPr/>
        </p:nvSpPr>
        <p:spPr>
          <a:xfrm>
            <a:off x="7362924" y="220918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2bf727242c8_0_0"/>
          <p:cNvSpPr txBox="1">
            <a:spLocks noGrp="1"/>
          </p:cNvSpPr>
          <p:nvPr>
            <p:ph type="body" idx="1"/>
          </p:nvPr>
        </p:nvSpPr>
        <p:spPr>
          <a:xfrm>
            <a:off x="396581" y="1936872"/>
            <a:ext cx="10082400" cy="450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1800" b="1" u="sng" dirty="0">
                <a:latin typeface="Times New Roman"/>
                <a:ea typeface="Times New Roman"/>
                <a:cs typeface="Times New Roman"/>
                <a:sym typeface="Times New Roman"/>
              </a:rPr>
              <a:t>При оформлении отчетных материалов следует придерживаться действующих стандартов.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462" lvl="0" indent="-268922" algn="just" rtl="0">
              <a:spcBef>
                <a:spcPts val="856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 В соответствии с ГОСТ 2.105-79 «Общие требования к текстовым документам» иллюстрации (графики, схемы, диаграммы) могут быть приведены как в основном тексте, так и в приложении. Все иллюстрации именуют рисунками. Все рисунки, таблицы и формулы нумеруют арабскими цифрами последовательно (сквозная нумерация) или в пределах раздела (относительная нумерация). В приложении - в пределах приложения. Каждый рисунок должен иметь подрисуночную подпись - название, помещаемую под рисунком.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462" lvl="0" indent="-268922" algn="just" rtl="0">
              <a:spcBef>
                <a:spcPts val="856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Рисунки следует размещать так, чтобы их можно было рассматривать без поворота страницы. Если такое размещение невозможно, рисунки следует располагать так, чтобы для просмотра надо было повернуть страницу по часовой стрелке. В этом случае верхним краем является левый край страницы. Расположение и размеры полей сохраняются.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462" lvl="0" indent="-268922" algn="just" rtl="0">
              <a:spcBef>
                <a:spcPts val="856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Номер таблицы размещают в правом верхнем углу или перед заголовком таблицы, если он есть. Заголовок, кроме первой буквы, выполняют строчными буквами. Ссылки на таблицы в тексте пояснительной записки указывают в виде слова «табл.» и номера таблицы. </a:t>
            </a:r>
            <a:r>
              <a:rPr lang="ru-RU" sz="1800" i="1" dirty="0">
                <a:latin typeface="Times New Roman"/>
                <a:ea typeface="Times New Roman"/>
                <a:cs typeface="Times New Roman"/>
                <a:sym typeface="Times New Roman"/>
              </a:rPr>
              <a:t>Например: Результаты тестов приведены в табл. 4.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462" lvl="0" indent="-141922" algn="l" rtl="0"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8868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f727242c8_0_7"/>
          <p:cNvSpPr txBox="1">
            <a:spLocks noGrp="1"/>
          </p:cNvSpPr>
          <p:nvPr>
            <p:ph type="title"/>
          </p:nvPr>
        </p:nvSpPr>
        <p:spPr>
          <a:xfrm>
            <a:off x="396581" y="323591"/>
            <a:ext cx="10160700" cy="148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3600"/>
              <a:buFont typeface="Arial Black"/>
              <a:buNone/>
            </a:pPr>
            <a: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  <a:t>Отчетный этап</a:t>
            </a:r>
            <a:b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</a:b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g2bf727242c8_0_7"/>
          <p:cNvSpPr txBox="1">
            <a:spLocks noGrp="1"/>
          </p:cNvSpPr>
          <p:nvPr>
            <p:ph type="body" idx="2"/>
          </p:nvPr>
        </p:nvSpPr>
        <p:spPr>
          <a:xfrm>
            <a:off x="234132" y="440218"/>
            <a:ext cx="9825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/>
          <a:p>
            <a:pPr marL="87312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endParaRPr sz="1300" dirty="0">
              <a:solidFill>
                <a:srgbClr val="E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7312" lvl="0" indent="0" algn="l" rtl="0">
              <a:lnSpc>
                <a:spcPct val="80000"/>
              </a:lnSpc>
              <a:spcBef>
                <a:spcPts val="856"/>
              </a:spcBef>
              <a:spcAft>
                <a:spcPts val="0"/>
              </a:spcAft>
              <a:buClr>
                <a:srgbClr val="E60000"/>
              </a:buClr>
              <a:buSzPts val="2500"/>
              <a:buNone/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imes New Roman"/>
              </a:rPr>
              <a:t>Формирование отчетной документации по результатам работ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  <a:p>
            <a:pPr marL="87312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endParaRPr sz="1300" b="0" dirty="0">
              <a:solidFill>
                <a:srgbClr val="E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g2bf727242c8_0_7"/>
          <p:cNvSpPr/>
          <p:nvPr/>
        </p:nvSpPr>
        <p:spPr>
          <a:xfrm>
            <a:off x="7362924" y="220918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2bf727242c8_0_7"/>
          <p:cNvSpPr txBox="1">
            <a:spLocks noGrp="1"/>
          </p:cNvSpPr>
          <p:nvPr>
            <p:ph type="body" idx="1"/>
          </p:nvPr>
        </p:nvSpPr>
        <p:spPr>
          <a:xfrm>
            <a:off x="435731" y="1922162"/>
            <a:ext cx="100824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1800" b="1" u="sng" dirty="0">
                <a:latin typeface="Times New Roman"/>
                <a:ea typeface="Times New Roman"/>
                <a:cs typeface="Times New Roman"/>
                <a:sym typeface="Times New Roman"/>
              </a:rPr>
              <a:t>При оформлении отчетных материалов следует придерживаться действующих стандартов.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462" lvl="0" indent="-263842" algn="just" rtl="0">
              <a:spcBef>
                <a:spcPts val="856"/>
              </a:spcBef>
              <a:spcAft>
                <a:spcPts val="0"/>
              </a:spcAft>
              <a:buSzPts val="2100"/>
              <a:buFont typeface="Times New Roman"/>
              <a:buChar char="•"/>
            </a:pP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Список литературы должен включать все использованные источники. Сведения о книгах (монографиях, учебниках, пособиях, справочниках и т.д.) должны содержать: фамилию и инициалы автора, заглавие книги, место издания, издательство, год издания. При наличии трех и более авторов допускается указывать фамилию и инициалы только первого из них со словами «и др.». Издательство надо приводить полностью в именительном падеже: допускается сокращение названия только двух городов: Москва (М.) и Санкт-Петербург (СПб.).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462" lvl="0" indent="-263842" algn="just" rtl="0">
              <a:spcBef>
                <a:spcPts val="856"/>
              </a:spcBef>
              <a:spcAft>
                <a:spcPts val="0"/>
              </a:spcAft>
              <a:buSzPts val="2100"/>
              <a:buFont typeface="Times New Roman"/>
              <a:buChar char="•"/>
            </a:pP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Сведения о статье из периодического издания должны включать: фамилию и инициалы автора, наименование статьи, издания (журнала), серии (если она есть), год выпуска, том (если есть), номер издания (журнала) и номера страниц, на которых помещена статья.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462" lvl="0" indent="-263842" algn="just" rtl="0">
              <a:spcBef>
                <a:spcPts val="856"/>
              </a:spcBef>
              <a:spcAft>
                <a:spcPts val="0"/>
              </a:spcAft>
              <a:buSzPts val="2100"/>
              <a:buFont typeface="Times New Roman"/>
              <a:buChar char="•"/>
            </a:pP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При ссылке на источник из списка литературы (особенно при обзоре аналогов) надо указывать порядковый номер по списку литературы, заключенный в квадратные скобки; например: [5].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462" lvl="0" indent="-130492" algn="l" rtl="0"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70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29661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bf727242c8_0_14"/>
          <p:cNvSpPr txBox="1">
            <a:spLocks noGrp="1"/>
          </p:cNvSpPr>
          <p:nvPr>
            <p:ph type="title"/>
          </p:nvPr>
        </p:nvSpPr>
        <p:spPr>
          <a:xfrm>
            <a:off x="396581" y="323591"/>
            <a:ext cx="10160700" cy="148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3600"/>
              <a:buFont typeface="Arial Black"/>
              <a:buNone/>
            </a:pPr>
            <a: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  <a:t>Отчетный этап</a:t>
            </a:r>
            <a:b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</a:b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g2bf727242c8_0_14"/>
          <p:cNvSpPr txBox="1">
            <a:spLocks noGrp="1"/>
          </p:cNvSpPr>
          <p:nvPr>
            <p:ph type="body" idx="2"/>
          </p:nvPr>
        </p:nvSpPr>
        <p:spPr>
          <a:xfrm>
            <a:off x="247157" y="697918"/>
            <a:ext cx="9825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/>
          <a:p>
            <a:pPr marL="87312" lvl="0" indent="0" algn="l" rtl="0"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1800"/>
              <a:buFont typeface="Arial"/>
              <a:buNone/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imes New Roman"/>
              </a:rPr>
              <a:t>Выводы о результатах прохождения учебной практики: 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  <a:p>
            <a:pPr marL="87312" lvl="0" indent="0" algn="l" rtl="0">
              <a:spcBef>
                <a:spcPts val="856"/>
              </a:spcBef>
              <a:spcAft>
                <a:spcPts val="0"/>
              </a:spcAft>
              <a:buClr>
                <a:srgbClr val="E60000"/>
              </a:buClr>
              <a:buSzPts val="1800"/>
              <a:buFont typeface="Arial"/>
              <a:buNone/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imes New Roman"/>
              </a:rPr>
              <a:t>выполняемая работа, приобретенные знания, умения и навыки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  <a:p>
            <a:pPr marL="87312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endParaRPr sz="1300" dirty="0">
              <a:solidFill>
                <a:srgbClr val="E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g2bf727242c8_0_14"/>
          <p:cNvSpPr/>
          <p:nvPr/>
        </p:nvSpPr>
        <p:spPr>
          <a:xfrm>
            <a:off x="7362924" y="220918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2bf727242c8_0_14"/>
          <p:cNvSpPr txBox="1">
            <a:spLocks noGrp="1"/>
          </p:cNvSpPr>
          <p:nvPr>
            <p:ph type="body" idx="1"/>
          </p:nvPr>
        </p:nvSpPr>
        <p:spPr>
          <a:xfrm>
            <a:off x="396581" y="2103694"/>
            <a:ext cx="100824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Autofit/>
          </a:bodyPr>
          <a:lstStyle/>
          <a:p>
            <a:pPr marL="0" lvl="0" indent="719138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В ходе прохождения учебной практики мной были получены знания и навыки по следующим темам: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9604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>
            <a:spLocks noGrp="1"/>
          </p:cNvSpPr>
          <p:nvPr>
            <p:ph type="title"/>
          </p:nvPr>
        </p:nvSpPr>
        <p:spPr>
          <a:xfrm>
            <a:off x="463818" y="497981"/>
            <a:ext cx="968719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3600"/>
              <a:buFont typeface="Arial Black"/>
              <a:buNone/>
            </a:pPr>
            <a: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  <a:t>Отчетный этап</a:t>
            </a:r>
            <a:endParaRPr sz="3000" kern="1200" dirty="0">
              <a:latin typeface="Arial Black" panose="020B0A04020102020204" pitchFamily="34" charset="0"/>
              <a:ea typeface="+mj-ea"/>
              <a:cs typeface="+mj-cs"/>
              <a:sym typeface="Times New Roman"/>
            </a:endParaRPr>
          </a:p>
        </p:txBody>
      </p:sp>
      <p:sp>
        <p:nvSpPr>
          <p:cNvPr id="287" name="Google Shape;287;p14"/>
          <p:cNvSpPr txBox="1">
            <a:spLocks noGrp="1"/>
          </p:cNvSpPr>
          <p:nvPr>
            <p:ph type="body" idx="1"/>
          </p:nvPr>
        </p:nvSpPr>
        <p:spPr>
          <a:xfrm>
            <a:off x="394962" y="1802983"/>
            <a:ext cx="9824904" cy="48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 fontScale="92500"/>
          </a:bodyPr>
          <a:lstStyle/>
          <a:p>
            <a:pPr marL="361950" lvl="0" indent="-3619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Советов, Б. Я.  Базы данных : учебник для среднего профессионального образования / Б. Я. Советов, В. В. 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Цехановский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, В. Д. Чертовской. — 3-е изд.,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перераб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. и доп. — Москва : Издательство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Юрайт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, 2023. — 420 с. — (Профессиональное образование). — ISBN 978-5-534-09324-7. — Текст : электронный // Образовательная платформа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Юрайт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 [сайт]. — URL: </a:t>
            </a:r>
            <a:r>
              <a:rPr lang="ru-RU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https://urait.ru/bcode/514585</a:t>
            </a:r>
            <a:endParaRPr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1950" lvl="0" indent="-361950" algn="just" rtl="0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Стружкин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, Н. П.  Базы данных: проектирование : учебник для среднего профессионального образования / Н. П. 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Стружкин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, В. В. Годин. — Москва : Издательство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Юрайт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, 2023. — 477 с. — (Профессиональное образование). — ISBN 978-5-534-11635-9. — Текст : электронный // Образовательная платформа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Юрайт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 [сайт]. — URL: </a:t>
            </a:r>
            <a:r>
              <a:rPr lang="ru-RU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https://urait.ru/bcode/518499</a:t>
            </a:r>
            <a:endParaRPr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1950" lvl="0" indent="-361950" algn="just" rtl="0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1950" lvl="0" indent="-361950" algn="just" rtl="0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1950" lvl="0" indent="-361950" algn="just" rtl="0">
              <a:lnSpc>
                <a:spcPct val="90000"/>
              </a:lnSpc>
              <a:spcBef>
                <a:spcPts val="8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14"/>
          <p:cNvSpPr txBox="1">
            <a:spLocks noGrp="1"/>
          </p:cNvSpPr>
          <p:nvPr>
            <p:ph type="body" idx="2"/>
          </p:nvPr>
        </p:nvSpPr>
        <p:spPr>
          <a:xfrm>
            <a:off x="305068" y="845783"/>
            <a:ext cx="9824904" cy="56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/>
          <a:p>
            <a:pPr marL="873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1800"/>
              <a:buNone/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imes New Roman"/>
              </a:rPr>
              <a:t>Список используемой литературы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7434932" y="210982"/>
            <a:ext cx="3153698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5595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c00a3e1a9a_0_23"/>
          <p:cNvSpPr txBox="1">
            <a:spLocks noGrp="1"/>
          </p:cNvSpPr>
          <p:nvPr>
            <p:ph type="title"/>
          </p:nvPr>
        </p:nvSpPr>
        <p:spPr>
          <a:xfrm>
            <a:off x="463818" y="497982"/>
            <a:ext cx="96873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3600"/>
              <a:buFont typeface="Arial Black"/>
              <a:buNone/>
            </a:pPr>
            <a:r>
              <a:rPr lang="ru-RU" sz="3000" kern="1200" dirty="0">
                <a:latin typeface="Arial Black" panose="020B0A04020102020204" pitchFamily="34" charset="0"/>
                <a:ea typeface="+mj-ea"/>
                <a:cs typeface="+mj-cs"/>
                <a:sym typeface="Times New Roman"/>
              </a:rPr>
              <a:t>Отчетный этап</a:t>
            </a:r>
            <a:endParaRPr sz="3000" kern="1200" dirty="0">
              <a:latin typeface="Arial Black" panose="020B0A04020102020204" pitchFamily="34" charset="0"/>
              <a:ea typeface="+mj-ea"/>
              <a:cs typeface="+mj-cs"/>
              <a:sym typeface="Times New Roman"/>
            </a:endParaRPr>
          </a:p>
        </p:txBody>
      </p:sp>
      <p:sp>
        <p:nvSpPr>
          <p:cNvPr id="295" name="Google Shape;295;g2c00a3e1a9a_0_23"/>
          <p:cNvSpPr txBox="1">
            <a:spLocks noGrp="1"/>
          </p:cNvSpPr>
          <p:nvPr>
            <p:ph type="body" idx="1"/>
          </p:nvPr>
        </p:nvSpPr>
        <p:spPr>
          <a:xfrm>
            <a:off x="305068" y="1952884"/>
            <a:ext cx="9825000" cy="48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t" anchorCtr="0">
            <a:normAutofit/>
          </a:bodyPr>
          <a:lstStyle/>
          <a:p>
            <a:pPr marL="762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1. Анализ предметной области.docx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2. Разработка проектной документации.docx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3. Разработка клиентской части веб-приложения.docx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4. Проектирование и разработка серверной части веб-приложения.docx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5. Тестирование и отладка приложения.docx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856"/>
              </a:spcBef>
              <a:spcAft>
                <a:spcPts val="0"/>
              </a:spcAft>
              <a:buSzPts val="2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2c00a3e1a9a_0_23"/>
          <p:cNvSpPr txBox="1">
            <a:spLocks noGrp="1"/>
          </p:cNvSpPr>
          <p:nvPr>
            <p:ph type="body" idx="2"/>
          </p:nvPr>
        </p:nvSpPr>
        <p:spPr>
          <a:xfrm>
            <a:off x="305068" y="845783"/>
            <a:ext cx="98250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00" tIns="52150" rIns="104300" bIns="52150" anchor="b" anchorCtr="0">
            <a:normAutofit/>
          </a:bodyPr>
          <a:lstStyle/>
          <a:p>
            <a:pPr marL="87312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0000"/>
              </a:buClr>
              <a:buSzPts val="1800"/>
              <a:buNone/>
            </a:pPr>
            <a:r>
              <a:rPr lang="ru-RU" b="0" kern="1200" dirty="0">
                <a:solidFill>
                  <a:srgbClr val="E6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imes New Roman"/>
              </a:rPr>
              <a:t>Приложения</a:t>
            </a:r>
            <a:endParaRPr b="0" kern="1200" dirty="0">
              <a:solidFill>
                <a:srgbClr val="E6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97" name="Google Shape;297;g2c00a3e1a9a_0_23"/>
          <p:cNvSpPr/>
          <p:nvPr/>
        </p:nvSpPr>
        <p:spPr>
          <a:xfrm>
            <a:off x="7434932" y="210982"/>
            <a:ext cx="315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Пример заполнения</a:t>
            </a:r>
            <a:endParaRPr sz="25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55309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949</Words>
  <Application>Microsoft Office PowerPoint</Application>
  <PresentationFormat>Произвольный</PresentationFormat>
  <Paragraphs>156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 Black</vt:lpstr>
      <vt:lpstr>Times New Roman</vt:lpstr>
      <vt:lpstr>Arial</vt:lpstr>
      <vt:lpstr>Calibri</vt:lpstr>
      <vt:lpstr>Тема Office</vt:lpstr>
      <vt:lpstr>ОТЧЕТ  о прохождении учебной практики   по профессиональному модулю ПМ.09 Проектирование, разработка и оптимизация веб-приложений  в период с «__» __________ 20__ г. по «__» __________ 20__ г.   Специальность 09.02.07 Информационные системы и программирование </vt:lpstr>
      <vt:lpstr>Содержание</vt:lpstr>
      <vt:lpstr>Организационный этап</vt:lpstr>
      <vt:lpstr>Подготовительный этап </vt:lpstr>
      <vt:lpstr>Исследовательский этап </vt:lpstr>
      <vt:lpstr>Исследовательский этап </vt:lpstr>
      <vt:lpstr>Исследовательский этап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Этап проектирования и разработки </vt:lpstr>
      <vt:lpstr>Отчетный этап   </vt:lpstr>
      <vt:lpstr>Отчетный этап   </vt:lpstr>
      <vt:lpstr>Отчетный этап   </vt:lpstr>
      <vt:lpstr>Отчетный этап</vt:lpstr>
      <vt:lpstr>Отчетный этап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 о прохождении учебной практики   по профессиональному модулю ПМ.01 Осуществление интеграции программных модулей  в период с «  »         2024 г. по «  »          2024 г.   Специальность 09.02.07 Информационные системы и программирование </dc:title>
  <dc:creator>Катя</dc:creator>
  <cp:lastModifiedBy>Перепечина Мария Викторовна</cp:lastModifiedBy>
  <cp:revision>14</cp:revision>
  <dcterms:created xsi:type="dcterms:W3CDTF">2020-03-27T22:15:06Z</dcterms:created>
  <dcterms:modified xsi:type="dcterms:W3CDTF">2025-03-27T15:48:29Z</dcterms:modified>
</cp:coreProperties>
</file>